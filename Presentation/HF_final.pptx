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D813"/>
    <a:srgbClr val="E53935"/>
    <a:srgbClr val="EEF9C8"/>
    <a:srgbClr val="037A45"/>
    <a:srgbClr val="3B7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78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spreadsheets/d/18_9bfT9e5GD6J2pq9-uGE3MQw3DNCw2Q1IQjaaISHFQ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_9bfT9e5GD6J2pq9-uGE3MQw3DNCw2Q1IQjaaISHFQ/edit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_9bfT9e5GD6J2pq9-uGE3MQw3DNCw2Q1IQjaaISHFQ/edit?usp=shar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_9bfT9e5GD6J2pq9-uGE3MQw3DNCw2Q1IQjaaISHFQ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docs.google.com/spreadsheets/d/1eaVw2RLc1ykBRbnESzyT38RsU15Fye6U-MSkVXTEtnY/edit?usp=sharing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_9bfT9e5GD6J2pq9-uGE3MQw3DNCw2Q1IQjaaISHFQ/edit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_9bfT9e5GD6J2pq9-uGE3MQw3DNCw2Q1IQjaaISHFQ/edit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7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1"/>
          <p:cNvSpPr/>
          <p:nvPr/>
        </p:nvSpPr>
        <p:spPr>
          <a:xfrm>
            <a:off x="910000" y="1971008"/>
            <a:ext cx="732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2025 Marketing Performance Review</a:t>
            </a:r>
          </a:p>
        </p:txBody>
      </p:sp>
      <p:sp>
        <p:nvSpPr>
          <p:cNvPr id="7" name="Title2"/>
          <p:cNvSpPr/>
          <p:nvPr/>
        </p:nvSpPr>
        <p:spPr>
          <a:xfrm>
            <a:off x="910000" y="1980000"/>
            <a:ext cx="732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b="1" dirty="0">
              <a:solidFill>
                <a:srgbClr val="96D913"/>
              </a:solidFill>
              <a:latin typeface="Calibri" pitchFamily="34" charset="0"/>
            </a:endParaRPr>
          </a:p>
        </p:txBody>
      </p:sp>
      <p:sp>
        <p:nvSpPr>
          <p:cNvPr id="8" name="Divider"/>
          <p:cNvSpPr/>
          <p:nvPr/>
        </p:nvSpPr>
        <p:spPr>
          <a:xfrm>
            <a:off x="3562000" y="2720000"/>
            <a:ext cx="2020000" cy="50000"/>
          </a:xfrm>
          <a:prstGeom prst="rect">
            <a:avLst/>
          </a:prstGeom>
          <a:solidFill>
            <a:srgbClr val="96D91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Sub"/>
          <p:cNvSpPr/>
          <p:nvPr/>
        </p:nvSpPr>
        <p:spPr>
          <a:xfrm>
            <a:off x="910000" y="2830000"/>
            <a:ext cx="732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</a:rPr>
              <a:t>Data Analyst, Growth</a:t>
            </a:r>
          </a:p>
        </p:txBody>
      </p:sp>
      <p:sp>
        <p:nvSpPr>
          <p:cNvPr id="10" name="BadgeBg"/>
          <p:cNvSpPr/>
          <p:nvPr/>
        </p:nvSpPr>
        <p:spPr>
          <a:xfrm>
            <a:off x="3962000" y="3350000"/>
            <a:ext cx="1220000" cy="290000"/>
          </a:xfrm>
          <a:prstGeom prst="rect">
            <a:avLst/>
          </a:prstGeom>
          <a:solidFill>
            <a:srgbClr val="2C5F42"/>
          </a:solidFill>
          <a:ln w="12700">
            <a:solidFill>
              <a:srgbClr val="96D9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3962000" y="3350000"/>
            <a:ext cx="12200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Sarthak Yadav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2CC3B725-5426-1633-2FCB-05AB9AA65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788" y="256481"/>
            <a:ext cx="1723519" cy="17235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opBar">
            <a:extLst>
              <a:ext uri="{FF2B5EF4-FFF2-40B4-BE49-F238E27FC236}">
                <a16:creationId xmlns:a16="http://schemas.microsoft.com/office/drawing/2014/main" id="{37BB1354-0BE4-A102-474F-2FA3E8C87CD1}"/>
              </a:ext>
            </a:extLst>
          </p:cNvPr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7160" y="566928"/>
            <a:ext cx="278892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7160" y="566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SNAPSHOT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27248" y="566928"/>
            <a:ext cx="2944368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27248" y="566928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99632" y="566928"/>
            <a:ext cx="2834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99632" y="566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RECOMMENDATIONS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63240" y="566928"/>
            <a:ext cx="0" cy="42062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44768" y="566928"/>
            <a:ext cx="0" cy="420624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64592" y="950976"/>
            <a:ext cx="26974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64592" y="950976"/>
            <a:ext cx="54864" cy="7132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92608" y="987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92608" y="1335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Attainment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292608" y="14813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10,859 actual vs 280,811 target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64592" y="1755648"/>
            <a:ext cx="2697480" cy="713232"/>
          </a:xfrm>
          <a:prstGeom prst="rect">
            <a:avLst/>
          </a:prstGeom>
          <a:solidFill>
            <a:srgbClr val="EEF9C8"/>
          </a:solidFill>
          <a:ln w="12700">
            <a:solidFill>
              <a:srgbClr val="95D81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64592" y="1755648"/>
            <a:ext cx="54864" cy="713232"/>
          </a:xfrm>
          <a:prstGeom prst="rect">
            <a:avLst/>
          </a:prstGeom>
          <a:solidFill>
            <a:srgbClr val="95D813"/>
          </a:solidFill>
          <a:ln w="12700">
            <a:solidFill>
              <a:srgbClr val="95D8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92608" y="1792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92608" y="2139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Market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292608" y="22860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1.25% Profitable users · 0.083 UK Organic ROAS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64592" y="2560320"/>
            <a:ext cx="26974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64592" y="2560320"/>
            <a:ext cx="54864" cy="7132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92608" y="25968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292608" y="2944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Users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292608" y="30906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of 9,284 users with CPA data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64592" y="3364992"/>
            <a:ext cx="26974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64592" y="3364992"/>
            <a:ext cx="54864" cy="7132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92608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92608" y="37490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Week-over-Week Conversion Attainment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292608" y="38953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/>
              <a:t>Typical week underperforms prior by 3.6%</a:t>
            </a:r>
          </a:p>
        </p:txBody>
      </p:sp>
      <p:sp>
        <p:nvSpPr>
          <p:cNvPr id="33" name="Shape 30"/>
          <p:cNvSpPr/>
          <p:nvPr/>
        </p:nvSpPr>
        <p:spPr>
          <a:xfrm>
            <a:off x="3154680" y="987552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154680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493008" y="97840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is not on track — 3.87% conversion attainment across all 5 channels and 4 markets, with Partnerships the worst at 2.0% and Paid Social the best at 5.1%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154680" y="1645920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154680" y="1645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493008" y="163677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unprofitable across all markets – UK leads with 1.25% profitable users vs France with 0.25% profitable users; Paid Social drives the worst 5-week post conversion loss of -$1.86M 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154680" y="2304288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15468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493008" y="229514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deteriorating – median WoW ratio of 0.964 (-3.6% typical week); Spain is the weakest market (median 0.872), while France is the only improving market (median 1.014)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154680" y="2962656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154680" y="2962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493008" y="2953512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and Paid Search observe biggest attainment drops from Q1 to Q4 observing -1.2pp and -0.7pp respectively, despite being the top 2 channels by volume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154680" y="3621024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1546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493008" y="36118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deprioritizations for 2026 – Partnerships ranks last in all 4 markets with the worst ROAS (0.018) and highest CPC ($2587.71); Affiliate ranks 4</a:t>
            </a:r>
            <a:r>
              <a:rPr lang="en-US" sz="85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all markets with below average ROAS (0.024)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236208" y="950976"/>
            <a:ext cx="2743200" cy="256032"/>
          </a:xfrm>
          <a:prstGeom prst="rect">
            <a:avLst/>
          </a:prstGeom>
          <a:solidFill>
            <a:srgbClr val="95D813"/>
          </a:solidFill>
          <a:ln w="12700">
            <a:solidFill>
              <a:srgbClr val="96D9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236208" y="950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236208" y="1252728"/>
            <a:ext cx="2743200" cy="420624"/>
          </a:xfrm>
          <a:prstGeom prst="rect">
            <a:avLst/>
          </a:prstGeom>
          <a:solidFill>
            <a:srgbClr val="EEF9C8"/>
          </a:solidFill>
          <a:ln w="12700">
            <a:solidFill>
              <a:srgbClr val="96D9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382512" y="1289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382512" y="14721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ROAS (0.045) · Best cost-efficiency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236208" y="1755648"/>
            <a:ext cx="2743200" cy="420624"/>
          </a:xfrm>
          <a:prstGeom prst="rect">
            <a:avLst/>
          </a:prstGeom>
          <a:solidFill>
            <a:srgbClr val="EEF9C8"/>
          </a:solidFill>
          <a:ln w="12700">
            <a:solidFill>
              <a:srgbClr val="96D9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382512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382512" y="19751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Avg Rank (2.60) · Highest volume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236208" y="2304288"/>
            <a:ext cx="2743200" cy="2560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236208" y="2304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MAINTAIN / OPTIMIZE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236208" y="2606040"/>
            <a:ext cx="2743200" cy="420624"/>
          </a:xfrm>
          <a:prstGeom prst="rect">
            <a:avLst/>
          </a:prstGeom>
          <a:solidFill>
            <a:srgbClr val="FFF8F0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382512" y="2642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382512" y="28254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ROAS (0.035) · Lowest CPC ($822.13) 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1" name="Shape 58"/>
          <p:cNvSpPr/>
          <p:nvPr/>
        </p:nvSpPr>
        <p:spPr>
          <a:xfrm>
            <a:off x="6236208" y="3108960"/>
            <a:ext cx="2743200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236208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SCALE DOWN / DEPRIORITIZE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236208" y="3410712"/>
            <a:ext cx="2743200" cy="42062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382512" y="3447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382512" y="36301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Below-avg ROAS (0.024) · Lowest Order Freq (0.176)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6" name="Shape 63"/>
          <p:cNvSpPr/>
          <p:nvPr/>
        </p:nvSpPr>
        <p:spPr>
          <a:xfrm>
            <a:off x="6236208" y="3913632"/>
            <a:ext cx="2743200" cy="42062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6382512" y="3950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6382512" y="4133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ROAS (0.018) · Highest CPC ($2587.71)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3" name="Title">
            <a:extLst>
              <a:ext uri="{FF2B5EF4-FFF2-40B4-BE49-F238E27FC236}">
                <a16:creationId xmlns:a16="http://schemas.microsoft.com/office/drawing/2014/main" id="{11263873-5E2F-D053-114A-9FDC31494161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Executive Summary, 2025 Marketing Performance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58F4BE76-E72A-9F45-27FB-6158E23F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3A2107-20C2-1CD6-8E76-CA5D1CADD5D4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Outputs: </a:t>
            </a:r>
            <a:r>
              <a:rPr lang="en-US" sz="600" dirty="0" err="1">
                <a:hlinkClick r:id="rId4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>
            <a:extLst>
              <a:ext uri="{FF2B5EF4-FFF2-40B4-BE49-F238E27FC236}">
                <a16:creationId xmlns:a16="http://schemas.microsoft.com/office/drawing/2014/main" id="{AF8EC8DD-23D5-91CE-77A9-400F668C99CC}"/>
              </a:ext>
            </a:extLst>
          </p:cNvPr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" name="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85753"/>
              </p:ext>
            </p:extLst>
          </p:nvPr>
        </p:nvGraphicFramePr>
        <p:xfrm>
          <a:off x="1645073" y="535979"/>
          <a:ext cx="5284177" cy="1192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% Attainment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/>
                        </a:rPr>
                        <a:t>Conversions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/>
                        </a:rPr>
                        <a:t>10,859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/>
                        </a:rPr>
                        <a:t>280,811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C92A2A"/>
                          </a:solidFill>
                          <a:latin typeface="Calibri"/>
                        </a:rPr>
                        <a:t>−269,952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C92A2A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+mn-lt"/>
                        </a:rPr>
                        <a:t>$9.0M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+mn-lt"/>
                        </a:rPr>
                        <a:t>$13.6M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C92A2A"/>
                          </a:solidFill>
                          <a:latin typeface="+mn-lt"/>
                        </a:rPr>
                        <a:t>−$4.6M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C92A2A"/>
                          </a:solidFill>
                          <a:latin typeface="+mn-lt"/>
                        </a:rPr>
                        <a:t>66.1%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/>
                        </a:rPr>
                        <a:t>$2.16M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/>
                        </a:rPr>
                        <a:t>%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76%</a:t>
                      </a:r>
                      <a:endParaRPr lang="en-US" sz="8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b="1" dirty="0">
                          <a:solidFill>
                            <a:srgbClr val="868E96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Insights"/>
          <p:cNvSpPr txBox="1"/>
          <p:nvPr/>
        </p:nvSpPr>
        <p:spPr>
          <a:xfrm>
            <a:off x="546310" y="4463657"/>
            <a:ext cx="8044000" cy="425484"/>
          </a:xfrm>
          <a:prstGeom prst="rect">
            <a:avLst/>
          </a:prstGeom>
          <a:solidFill>
            <a:schemeClr val="bg1"/>
          </a:solidFill>
          <a:ln w="9525">
            <a:solidFill>
              <a:srgbClr val="E0E0E0"/>
            </a:solidFill>
          </a:ln>
        </p:spPr>
        <p:txBody>
          <a:bodyPr wrap="square" lIns="91440" tIns="45720" rIns="91440" bIns="45720" rtlCol="0"/>
          <a:lstStyle/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Paid Social leads every quarter (5.7– 4.5%) but shows the sharpest decline of any channel across the year (-1.2pp from Q1 to Q4).</a:t>
            </a:r>
          </a:p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Organic is the most stable channel — attainment holds between 4.4% and 4.7%.</a:t>
            </a:r>
          </a:p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Affiliate is the only channel gaining efficiency from Q1 to Q3.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FF2FFBCB-E4A4-492B-583A-D5FD299A759D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Marketing Performance is Off-Target on Conversions, On-Budget for Spend</a:t>
            </a:r>
          </a:p>
        </p:txBody>
      </p:sp>
      <p:sp>
        <p:nvSpPr>
          <p:cNvPr id="15" name="ChartDivider"/>
          <p:cNvSpPr/>
          <p:nvPr/>
        </p:nvSpPr>
        <p:spPr>
          <a:xfrm>
            <a:off x="5040000" y="1990000"/>
            <a:ext cx="18000" cy="24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76A0E-3C34-791F-AD4F-936C352DC186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1: </a:t>
            </a:r>
            <a:r>
              <a:rPr lang="en-US" sz="600" dirty="0" err="1">
                <a:hlinkClick r:id="rId3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E53C3EFB-08BB-8776-4DA4-E165D0A21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970" y="2016665"/>
            <a:ext cx="3697390" cy="2427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Logo">
            <a:extLst>
              <a:ext uri="{FF2B5EF4-FFF2-40B4-BE49-F238E27FC236}">
                <a16:creationId xmlns:a16="http://schemas.microsoft.com/office/drawing/2014/main" id="{D48FB70D-5690-2765-60A7-734BA6E49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7CDC6C8-E8F1-7E28-9DBB-B8511C6CC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10" y="1954362"/>
            <a:ext cx="4290272" cy="24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opBar">
            <a:extLst>
              <a:ext uri="{FF2B5EF4-FFF2-40B4-BE49-F238E27FC236}">
                <a16:creationId xmlns:a16="http://schemas.microsoft.com/office/drawing/2014/main" id="{12200D48-E003-0DEB-38FD-40FE6BF4755E}"/>
              </a:ext>
            </a:extLst>
          </p:cNvPr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980944" y="548640"/>
            <a:ext cx="3182112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980944" y="548640"/>
            <a:ext cx="64008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127248" y="60350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Profitable Users (portfolio)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3127248" y="78638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127248" y="110642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of 9,284 users with CPA data across all channels &amp; countries</a:t>
            </a:r>
            <a:endParaRPr lang="en-US" sz="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3FA8DC-D39A-3253-10AE-5443D4DEB546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2: </a:t>
            </a:r>
            <a:r>
              <a:rPr lang="en-US" sz="600" dirty="0" err="1">
                <a:hlinkClick r:id="rId3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  <p:sp>
        <p:nvSpPr>
          <p:cNvPr id="37" name="Title">
            <a:extLst>
              <a:ext uri="{FF2B5EF4-FFF2-40B4-BE49-F238E27FC236}">
                <a16:creationId xmlns:a16="http://schemas.microsoft.com/office/drawing/2014/main" id="{6D988198-4836-85F6-66FC-45F3C09ABD1A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Short-Term Profitability is Structurally Negative Across All Channels</a:t>
            </a:r>
          </a:p>
        </p:txBody>
      </p:sp>
      <p:sp>
        <p:nvSpPr>
          <p:cNvPr id="38" name="Insights">
            <a:extLst>
              <a:ext uri="{FF2B5EF4-FFF2-40B4-BE49-F238E27FC236}">
                <a16:creationId xmlns:a16="http://schemas.microsoft.com/office/drawing/2014/main" id="{1981303B-B19F-0904-82F8-366F51E7484F}"/>
              </a:ext>
            </a:extLst>
          </p:cNvPr>
          <p:cNvSpPr txBox="1"/>
          <p:nvPr/>
        </p:nvSpPr>
        <p:spPr>
          <a:xfrm>
            <a:off x="550001" y="4201476"/>
            <a:ext cx="4148782" cy="589434"/>
          </a:xfrm>
          <a:prstGeom prst="rect">
            <a:avLst/>
          </a:prstGeom>
          <a:solidFill>
            <a:schemeClr val="bg1"/>
          </a:solidFill>
          <a:ln w="9525">
            <a:solidFill>
              <a:srgbClr val="E0E0E0"/>
            </a:solidFill>
          </a:ln>
        </p:spPr>
        <p:txBody>
          <a:bodyPr wrap="square" lIns="91440" tIns="45720" rIns="91440" bIns="45720" rtlCol="0"/>
          <a:lstStyle/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Paid Social is the best channel in terms of profitable users ~0.9%, but it incurs the highest 5-week post conversion loss.</a:t>
            </a:r>
          </a:p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Partnerships is the worst channel in terms of profitable users ~0.1%, and it incurs a very high 5-week post conversion loss.</a:t>
            </a:r>
          </a:p>
        </p:txBody>
      </p:sp>
      <p:sp>
        <p:nvSpPr>
          <p:cNvPr id="39" name="Insights">
            <a:extLst>
              <a:ext uri="{FF2B5EF4-FFF2-40B4-BE49-F238E27FC236}">
                <a16:creationId xmlns:a16="http://schemas.microsoft.com/office/drawing/2014/main" id="{B0A9C0EE-B7F4-1CC4-8832-0965AA60DB09}"/>
              </a:ext>
            </a:extLst>
          </p:cNvPr>
          <p:cNvSpPr txBox="1"/>
          <p:nvPr/>
        </p:nvSpPr>
        <p:spPr>
          <a:xfrm>
            <a:off x="4859869" y="4201476"/>
            <a:ext cx="4148782" cy="589434"/>
          </a:xfrm>
          <a:prstGeom prst="rect">
            <a:avLst/>
          </a:prstGeom>
          <a:solidFill>
            <a:schemeClr val="bg1"/>
          </a:solidFill>
          <a:ln w="9525">
            <a:solidFill>
              <a:srgbClr val="E0E0E0"/>
            </a:solidFill>
          </a:ln>
        </p:spPr>
        <p:txBody>
          <a:bodyPr wrap="square" lIns="91440" tIns="45720" rIns="91440" bIns="45720" rtlCol="0"/>
          <a:lstStyle/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UK is the best market in terms of profitable users at 1.25%, but it incurs significant 5-week post conversion loss. </a:t>
            </a:r>
          </a:p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France is the worst market in terms of profitable users at 0.25% and incurring significant 5-week post conversion loss. </a:t>
            </a:r>
          </a:p>
        </p:txBody>
      </p:sp>
      <p:sp>
        <p:nvSpPr>
          <p:cNvPr id="200" name="ChartDiv4"/>
          <p:cNvSpPr/>
          <p:nvPr/>
        </p:nvSpPr>
        <p:spPr>
          <a:xfrm>
            <a:off x="4677502" y="1508759"/>
            <a:ext cx="18000" cy="2528317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6F4AC89-4E13-F8B8-C3CC-86EBB8C79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01" y="1508761"/>
            <a:ext cx="3913428" cy="252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5533FD7-0D71-7EEA-7F14-C18CB3909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575" y="1508759"/>
            <a:ext cx="4085371" cy="252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Logo">
            <a:extLst>
              <a:ext uri="{FF2B5EF4-FFF2-40B4-BE49-F238E27FC236}">
                <a16:creationId xmlns:a16="http://schemas.microsoft.com/office/drawing/2014/main" id="{CF5D1B33-37D9-CAEB-C77E-A0DAAA790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23CD20C7-1E87-2C4F-6E8B-9BE3A94139E5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3: </a:t>
            </a:r>
            <a:r>
              <a:rPr lang="en-US" sz="600" dirty="0" err="1">
                <a:hlinkClick r:id="rId3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  <p:sp>
        <p:nvSpPr>
          <p:cNvPr id="27" name="TopBar">
            <a:extLst>
              <a:ext uri="{FF2B5EF4-FFF2-40B4-BE49-F238E27FC236}">
                <a16:creationId xmlns:a16="http://schemas.microsoft.com/office/drawing/2014/main" id="{9FBE4BA7-EAF5-03B7-5DBC-5EE471FA13C0}"/>
              </a:ext>
            </a:extLst>
          </p:cNvPr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B7072AF6-A4B1-747C-8F12-ACF7A85AA822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Conversion Momentum is Declining Over the Year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6A9BB21-B347-7344-8800-5C50340E1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  <p:sp>
        <p:nvSpPr>
          <p:cNvPr id="3" name="Insights">
            <a:extLst>
              <a:ext uri="{FF2B5EF4-FFF2-40B4-BE49-F238E27FC236}">
                <a16:creationId xmlns:a16="http://schemas.microsoft.com/office/drawing/2014/main" id="{E4A36F99-73DF-4D7E-F3DD-ABFF77A89BDF}"/>
              </a:ext>
            </a:extLst>
          </p:cNvPr>
          <p:cNvSpPr txBox="1"/>
          <p:nvPr/>
        </p:nvSpPr>
        <p:spPr>
          <a:xfrm>
            <a:off x="546310" y="4308071"/>
            <a:ext cx="8044000" cy="648573"/>
          </a:xfrm>
          <a:prstGeom prst="rect">
            <a:avLst/>
          </a:prstGeom>
          <a:solidFill>
            <a:schemeClr val="bg1"/>
          </a:solidFill>
          <a:ln w="9525">
            <a:solidFill>
              <a:srgbClr val="E0E0E0"/>
            </a:solidFill>
          </a:ln>
        </p:spPr>
        <p:txBody>
          <a:bodyPr wrap="square" lIns="91440" tIns="45720" rIns="91440" bIns="45720" rtlCol="0"/>
          <a:lstStyle/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budget utilization spikes are a target-setting artefact, not a real overspend event – in the most extreme cases actual spend is a normal ~$10K-$20K weekly figure deployed against targets as low as $1K-$2K inflating the ratio. The flat conversion response during these weeks confirms spend behavior did not actually change; the targets table needs to be audited and recalibrated before budget utilization can be used as a reliable planning signal.</a:t>
            </a:r>
          </a:p>
          <a:p>
            <a:pPr marL="228600" indent="-228600">
              <a:buChar char="•"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50.8% of week-over-week moves are declining. The median ratio of week-over-week conversion attainment is 0.964 implying the typical week underperforms the prior by 3.6%. Q4 deteriorated sharply with median of 0.882. Paid Search is the only channel with a positive week-over-week trend; France is the only market improving in week-over-week trends. (</a:t>
            </a: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Week-over-Week Output</a:t>
            </a: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28600" indent="-228600">
              <a:buChar char="•"/>
            </a:pPr>
            <a:endParaRPr lang="en-US" sz="68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C67CCAC-629A-7EAD-8686-50D5500A5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28" y="679451"/>
            <a:ext cx="8752744" cy="362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opBar">
            <a:extLst>
              <a:ext uri="{FF2B5EF4-FFF2-40B4-BE49-F238E27FC236}">
                <a16:creationId xmlns:a16="http://schemas.microsoft.com/office/drawing/2014/main" id="{17EF9230-8EEE-C7AB-19CB-E0986B149AF8}"/>
              </a:ext>
            </a:extLst>
          </p:cNvPr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"/>
          <p:cNvSpPr/>
          <p:nvPr/>
        </p:nvSpPr>
        <p:spPr>
          <a:xfrm>
            <a:off x="274320" y="57607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Ranking framework: ROAS 33.3% + Order Frequency 33.3% + CPA 33.3% · Spend-share adjusted · Min-max normalised within market × week</a:t>
            </a:r>
          </a:p>
        </p:txBody>
      </p:sp>
      <p:sp>
        <p:nvSpPr>
          <p:cNvPr id="11" name="CardBg0"/>
          <p:cNvSpPr/>
          <p:nvPr/>
        </p:nvSpPr>
        <p:spPr>
          <a:xfrm>
            <a:off x="730000" y="840000"/>
            <a:ext cx="1580000" cy="4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90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CardHdr0"/>
          <p:cNvSpPr/>
          <p:nvPr/>
        </p:nvSpPr>
        <p:spPr>
          <a:xfrm>
            <a:off x="730000" y="840000"/>
            <a:ext cx="1580000" cy="30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illBg0"/>
          <p:cNvSpPr/>
          <p:nvPr/>
        </p:nvSpPr>
        <p:spPr>
          <a:xfrm>
            <a:off x="893713" y="900000"/>
            <a:ext cx="1216287" cy="180000"/>
          </a:xfrm>
          <a:prstGeom prst="roundRect">
            <a:avLst/>
          </a:prstGeom>
          <a:solidFill>
            <a:srgbClr val="2B8A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illTxt0"/>
          <p:cNvSpPr/>
          <p:nvPr/>
        </p:nvSpPr>
        <p:spPr>
          <a:xfrm>
            <a:off x="1120000" y="900000"/>
            <a:ext cx="8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Scale Up</a:t>
            </a:r>
          </a:p>
        </p:txBody>
      </p:sp>
      <p:sp>
        <p:nvSpPr>
          <p:cNvPr id="15" name="Circ0"/>
          <p:cNvSpPr/>
          <p:nvPr/>
        </p:nvSpPr>
        <p:spPr>
          <a:xfrm>
            <a:off x="1335000" y="1180000"/>
            <a:ext cx="370000" cy="3700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ircTxt0"/>
          <p:cNvSpPr/>
          <p:nvPr/>
        </p:nvSpPr>
        <p:spPr>
          <a:xfrm>
            <a:off x="1335000" y="1180000"/>
            <a:ext cx="3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#1</a:t>
            </a:r>
          </a:p>
        </p:txBody>
      </p:sp>
      <p:sp>
        <p:nvSpPr>
          <p:cNvPr id="17" name="ChNm0"/>
          <p:cNvSpPr/>
          <p:nvPr/>
        </p:nvSpPr>
        <p:spPr>
          <a:xfrm>
            <a:off x="790000" y="1620000"/>
            <a:ext cx="146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</a:rPr>
              <a:t>Organic</a:t>
            </a:r>
          </a:p>
        </p:txBody>
      </p:sp>
      <p:sp>
        <p:nvSpPr>
          <p:cNvPr id="18" name="Sep0"/>
          <p:cNvSpPr/>
          <p:nvPr/>
        </p:nvSpPr>
        <p:spPr>
          <a:xfrm>
            <a:off x="930000" y="1900000"/>
            <a:ext cx="1180000" cy="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MLbl0_19"/>
          <p:cNvSpPr/>
          <p:nvPr/>
        </p:nvSpPr>
        <p:spPr>
          <a:xfrm>
            <a:off x="10000" y="2010000"/>
            <a:ext cx="68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Avg ROAS</a:t>
            </a:r>
          </a:p>
        </p:txBody>
      </p:sp>
      <p:sp>
        <p:nvSpPr>
          <p:cNvPr id="20" name="MVl0_20"/>
          <p:cNvSpPr/>
          <p:nvPr/>
        </p:nvSpPr>
        <p:spPr>
          <a:xfrm>
            <a:off x="790000" y="201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0.045</a:t>
            </a:r>
          </a:p>
        </p:txBody>
      </p:sp>
      <p:sp>
        <p:nvSpPr>
          <p:cNvPr id="21" name="MLbl0_21"/>
          <p:cNvSpPr/>
          <p:nvPr/>
        </p:nvSpPr>
        <p:spPr>
          <a:xfrm>
            <a:off x="10000" y="2440000"/>
            <a:ext cx="68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Avg Order Freq</a:t>
            </a:r>
          </a:p>
        </p:txBody>
      </p:sp>
      <p:sp>
        <p:nvSpPr>
          <p:cNvPr id="22" name="MVl0_22"/>
          <p:cNvSpPr/>
          <p:nvPr/>
        </p:nvSpPr>
        <p:spPr>
          <a:xfrm>
            <a:off x="790000" y="244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0.188</a:t>
            </a:r>
          </a:p>
        </p:txBody>
      </p:sp>
      <p:sp>
        <p:nvSpPr>
          <p:cNvPr id="23" name="MLbl0_23"/>
          <p:cNvSpPr/>
          <p:nvPr/>
        </p:nvSpPr>
        <p:spPr>
          <a:xfrm>
            <a:off x="10000" y="2870000"/>
            <a:ext cx="68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Avg CPC</a:t>
            </a:r>
          </a:p>
        </p:txBody>
      </p:sp>
      <p:sp>
        <p:nvSpPr>
          <p:cNvPr id="24" name="MVl0_24"/>
          <p:cNvSpPr/>
          <p:nvPr/>
        </p:nvSpPr>
        <p:spPr>
          <a:xfrm>
            <a:off x="790000" y="287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$910.44</a:t>
            </a:r>
          </a:p>
        </p:txBody>
      </p:sp>
      <p:sp>
        <p:nvSpPr>
          <p:cNvPr id="25" name="MLbl0_25"/>
          <p:cNvSpPr/>
          <p:nvPr/>
        </p:nvSpPr>
        <p:spPr>
          <a:xfrm>
            <a:off x="10000" y="3300000"/>
            <a:ext cx="68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Avg Rank</a:t>
            </a:r>
          </a:p>
        </p:txBody>
      </p:sp>
      <p:sp>
        <p:nvSpPr>
          <p:cNvPr id="26" name="MVl0_26"/>
          <p:cNvSpPr/>
          <p:nvPr/>
        </p:nvSpPr>
        <p:spPr>
          <a:xfrm>
            <a:off x="790000" y="330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2.74</a:t>
            </a:r>
          </a:p>
        </p:txBody>
      </p:sp>
      <p:sp>
        <p:nvSpPr>
          <p:cNvPr id="27" name="MLbl0_27"/>
          <p:cNvSpPr/>
          <p:nvPr/>
        </p:nvSpPr>
        <p:spPr>
          <a:xfrm>
            <a:off x="10000" y="3730000"/>
            <a:ext cx="68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Scale Up / All Wks</a:t>
            </a:r>
          </a:p>
        </p:txBody>
      </p:sp>
      <p:sp>
        <p:nvSpPr>
          <p:cNvPr id="28" name="MVl0_28"/>
          <p:cNvSpPr/>
          <p:nvPr/>
        </p:nvSpPr>
        <p:spPr>
          <a:xfrm>
            <a:off x="790000" y="373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47 / 212</a:t>
            </a:r>
          </a:p>
        </p:txBody>
      </p:sp>
      <p:sp>
        <p:nvSpPr>
          <p:cNvPr id="29" name="Ins0"/>
          <p:cNvSpPr/>
          <p:nvPr/>
        </p:nvSpPr>
        <p:spPr>
          <a:xfrm>
            <a:off x="790000" y="4230000"/>
            <a:ext cx="146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Highest ROAS &amp; strong order frequency. Best cost-efficiency across markets.</a:t>
            </a:r>
          </a:p>
        </p:txBody>
      </p:sp>
      <p:sp>
        <p:nvSpPr>
          <p:cNvPr id="30" name="CardBg1"/>
          <p:cNvSpPr/>
          <p:nvPr/>
        </p:nvSpPr>
        <p:spPr>
          <a:xfrm>
            <a:off x="2410000" y="840000"/>
            <a:ext cx="1580000" cy="4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90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Hdr1"/>
          <p:cNvSpPr/>
          <p:nvPr/>
        </p:nvSpPr>
        <p:spPr>
          <a:xfrm>
            <a:off x="2410000" y="840000"/>
            <a:ext cx="1580000" cy="30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illBg1"/>
          <p:cNvSpPr/>
          <p:nvPr/>
        </p:nvSpPr>
        <p:spPr>
          <a:xfrm>
            <a:off x="2591664" y="900000"/>
            <a:ext cx="1198336" cy="180000"/>
          </a:xfrm>
          <a:prstGeom prst="roundRect">
            <a:avLst/>
          </a:prstGeom>
          <a:solidFill>
            <a:srgbClr val="2B8A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PillTxt1"/>
          <p:cNvSpPr/>
          <p:nvPr/>
        </p:nvSpPr>
        <p:spPr>
          <a:xfrm>
            <a:off x="2800000" y="900000"/>
            <a:ext cx="8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Scale Up</a:t>
            </a:r>
          </a:p>
        </p:txBody>
      </p:sp>
      <p:sp>
        <p:nvSpPr>
          <p:cNvPr id="34" name="Circ1"/>
          <p:cNvSpPr/>
          <p:nvPr/>
        </p:nvSpPr>
        <p:spPr>
          <a:xfrm>
            <a:off x="3015000" y="1180000"/>
            <a:ext cx="370000" cy="3700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CircTxt1"/>
          <p:cNvSpPr/>
          <p:nvPr/>
        </p:nvSpPr>
        <p:spPr>
          <a:xfrm>
            <a:off x="3015000" y="1180000"/>
            <a:ext cx="3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#2</a:t>
            </a:r>
          </a:p>
        </p:txBody>
      </p:sp>
      <p:sp>
        <p:nvSpPr>
          <p:cNvPr id="36" name="ChNm1"/>
          <p:cNvSpPr/>
          <p:nvPr/>
        </p:nvSpPr>
        <p:spPr>
          <a:xfrm>
            <a:off x="2470000" y="1620000"/>
            <a:ext cx="146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</a:rPr>
              <a:t>Paid Social</a:t>
            </a:r>
          </a:p>
        </p:txBody>
      </p:sp>
      <p:sp>
        <p:nvSpPr>
          <p:cNvPr id="37" name="Sep1"/>
          <p:cNvSpPr/>
          <p:nvPr/>
        </p:nvSpPr>
        <p:spPr>
          <a:xfrm>
            <a:off x="2610000" y="1900000"/>
            <a:ext cx="1180000" cy="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MVl1_39"/>
          <p:cNvSpPr/>
          <p:nvPr/>
        </p:nvSpPr>
        <p:spPr>
          <a:xfrm>
            <a:off x="2470000" y="201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0.043</a:t>
            </a:r>
          </a:p>
        </p:txBody>
      </p:sp>
      <p:sp>
        <p:nvSpPr>
          <p:cNvPr id="41" name="MVl1_41"/>
          <p:cNvSpPr/>
          <p:nvPr/>
        </p:nvSpPr>
        <p:spPr>
          <a:xfrm>
            <a:off x="2470000" y="244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0.182</a:t>
            </a:r>
          </a:p>
        </p:txBody>
      </p:sp>
      <p:sp>
        <p:nvSpPr>
          <p:cNvPr id="43" name="MVl1_43"/>
          <p:cNvSpPr/>
          <p:nvPr/>
        </p:nvSpPr>
        <p:spPr>
          <a:xfrm>
            <a:off x="2470000" y="287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$894.08</a:t>
            </a:r>
          </a:p>
        </p:txBody>
      </p:sp>
      <p:sp>
        <p:nvSpPr>
          <p:cNvPr id="45" name="MVl1_45"/>
          <p:cNvSpPr/>
          <p:nvPr/>
        </p:nvSpPr>
        <p:spPr>
          <a:xfrm>
            <a:off x="2470000" y="330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2.60</a:t>
            </a:r>
          </a:p>
        </p:txBody>
      </p:sp>
      <p:sp>
        <p:nvSpPr>
          <p:cNvPr id="47" name="MVl1_47"/>
          <p:cNvSpPr/>
          <p:nvPr/>
        </p:nvSpPr>
        <p:spPr>
          <a:xfrm>
            <a:off x="2470000" y="373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42 / 212</a:t>
            </a:r>
          </a:p>
        </p:txBody>
      </p:sp>
      <p:sp>
        <p:nvSpPr>
          <p:cNvPr id="48" name="Ins1"/>
          <p:cNvSpPr/>
          <p:nvPr/>
        </p:nvSpPr>
        <p:spPr>
          <a:xfrm>
            <a:off x="2470000" y="4230000"/>
            <a:ext cx="146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Strong ROAS and broad scale. Best high-volume channel across priority markets.</a:t>
            </a:r>
          </a:p>
        </p:txBody>
      </p:sp>
      <p:sp>
        <p:nvSpPr>
          <p:cNvPr id="49" name="CardBg2"/>
          <p:cNvSpPr/>
          <p:nvPr/>
        </p:nvSpPr>
        <p:spPr>
          <a:xfrm>
            <a:off x="4090000" y="840000"/>
            <a:ext cx="1580000" cy="4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90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CardHdr2"/>
          <p:cNvSpPr/>
          <p:nvPr/>
        </p:nvSpPr>
        <p:spPr>
          <a:xfrm>
            <a:off x="4090000" y="840000"/>
            <a:ext cx="1580000" cy="30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PillBg2"/>
          <p:cNvSpPr/>
          <p:nvPr/>
        </p:nvSpPr>
        <p:spPr>
          <a:xfrm>
            <a:off x="4249863" y="900000"/>
            <a:ext cx="1220137" cy="180000"/>
          </a:xfrm>
          <a:prstGeom prst="roundRect">
            <a:avLst/>
          </a:prstGeom>
          <a:solidFill>
            <a:srgbClr val="E677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illTxt2"/>
          <p:cNvSpPr/>
          <p:nvPr/>
        </p:nvSpPr>
        <p:spPr>
          <a:xfrm>
            <a:off x="4480000" y="900000"/>
            <a:ext cx="8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Maintain</a:t>
            </a:r>
          </a:p>
        </p:txBody>
      </p:sp>
      <p:sp>
        <p:nvSpPr>
          <p:cNvPr id="53" name="Circ2"/>
          <p:cNvSpPr/>
          <p:nvPr/>
        </p:nvSpPr>
        <p:spPr>
          <a:xfrm>
            <a:off x="4695000" y="1180000"/>
            <a:ext cx="370000" cy="3700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CircTxt2"/>
          <p:cNvSpPr/>
          <p:nvPr/>
        </p:nvSpPr>
        <p:spPr>
          <a:xfrm>
            <a:off x="4695000" y="1180000"/>
            <a:ext cx="3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#3</a:t>
            </a:r>
          </a:p>
        </p:txBody>
      </p:sp>
      <p:sp>
        <p:nvSpPr>
          <p:cNvPr id="55" name="ChNm2"/>
          <p:cNvSpPr/>
          <p:nvPr/>
        </p:nvSpPr>
        <p:spPr>
          <a:xfrm>
            <a:off x="4150000" y="1620000"/>
            <a:ext cx="146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</a:rPr>
              <a:t>Paid Search</a:t>
            </a:r>
          </a:p>
        </p:txBody>
      </p:sp>
      <p:sp>
        <p:nvSpPr>
          <p:cNvPr id="56" name="Sep2"/>
          <p:cNvSpPr/>
          <p:nvPr/>
        </p:nvSpPr>
        <p:spPr>
          <a:xfrm>
            <a:off x="4290000" y="1900000"/>
            <a:ext cx="1180000" cy="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MVl2_58"/>
          <p:cNvSpPr/>
          <p:nvPr/>
        </p:nvSpPr>
        <p:spPr>
          <a:xfrm>
            <a:off x="4150000" y="201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0.035</a:t>
            </a:r>
          </a:p>
        </p:txBody>
      </p:sp>
      <p:sp>
        <p:nvSpPr>
          <p:cNvPr id="60" name="MVl2_60"/>
          <p:cNvSpPr/>
          <p:nvPr/>
        </p:nvSpPr>
        <p:spPr>
          <a:xfrm>
            <a:off x="4150000" y="244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0.177</a:t>
            </a:r>
          </a:p>
        </p:txBody>
      </p:sp>
      <p:sp>
        <p:nvSpPr>
          <p:cNvPr id="62" name="MVl2_62"/>
          <p:cNvSpPr/>
          <p:nvPr/>
        </p:nvSpPr>
        <p:spPr>
          <a:xfrm>
            <a:off x="4150000" y="287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$822.13</a:t>
            </a:r>
          </a:p>
        </p:txBody>
      </p:sp>
      <p:sp>
        <p:nvSpPr>
          <p:cNvPr id="64" name="MVl2_64"/>
          <p:cNvSpPr/>
          <p:nvPr/>
        </p:nvSpPr>
        <p:spPr>
          <a:xfrm>
            <a:off x="4150000" y="330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2.63</a:t>
            </a:r>
          </a:p>
        </p:txBody>
      </p:sp>
      <p:sp>
        <p:nvSpPr>
          <p:cNvPr id="66" name="MVl2_66"/>
          <p:cNvSpPr/>
          <p:nvPr/>
        </p:nvSpPr>
        <p:spPr>
          <a:xfrm>
            <a:off x="4150000" y="373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42 / 212</a:t>
            </a:r>
          </a:p>
        </p:txBody>
      </p:sp>
      <p:sp>
        <p:nvSpPr>
          <p:cNvPr id="67" name="Ins2"/>
          <p:cNvSpPr/>
          <p:nvPr/>
        </p:nvSpPr>
        <p:spPr>
          <a:xfrm>
            <a:off x="4150000" y="4230000"/>
            <a:ext cx="146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Mid-tier performer. Lowest CPA — targeting efficiency optimization opportunity.</a:t>
            </a:r>
          </a:p>
        </p:txBody>
      </p:sp>
      <p:sp>
        <p:nvSpPr>
          <p:cNvPr id="68" name="CardBg3"/>
          <p:cNvSpPr/>
          <p:nvPr/>
        </p:nvSpPr>
        <p:spPr>
          <a:xfrm>
            <a:off x="5770000" y="840000"/>
            <a:ext cx="1580000" cy="4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90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CardHdr3"/>
          <p:cNvSpPr/>
          <p:nvPr/>
        </p:nvSpPr>
        <p:spPr>
          <a:xfrm>
            <a:off x="5770000" y="840000"/>
            <a:ext cx="1580000" cy="30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PillBg3"/>
          <p:cNvSpPr/>
          <p:nvPr/>
        </p:nvSpPr>
        <p:spPr>
          <a:xfrm>
            <a:off x="5903759" y="900000"/>
            <a:ext cx="1288073" cy="180000"/>
          </a:xfrm>
          <a:prstGeom prst="roundRect">
            <a:avLst/>
          </a:prstGeom>
          <a:solidFill>
            <a:srgbClr val="C92A2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PillTxt3"/>
          <p:cNvSpPr/>
          <p:nvPr/>
        </p:nvSpPr>
        <p:spPr>
          <a:xfrm>
            <a:off x="6160000" y="900000"/>
            <a:ext cx="8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Scale Down</a:t>
            </a:r>
          </a:p>
        </p:txBody>
      </p:sp>
      <p:sp>
        <p:nvSpPr>
          <p:cNvPr id="72" name="Circ3"/>
          <p:cNvSpPr/>
          <p:nvPr/>
        </p:nvSpPr>
        <p:spPr>
          <a:xfrm>
            <a:off x="6375000" y="1180000"/>
            <a:ext cx="370000" cy="3700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CircTxt3"/>
          <p:cNvSpPr/>
          <p:nvPr/>
        </p:nvSpPr>
        <p:spPr>
          <a:xfrm>
            <a:off x="6375000" y="1180000"/>
            <a:ext cx="3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#4</a:t>
            </a:r>
          </a:p>
        </p:txBody>
      </p:sp>
      <p:sp>
        <p:nvSpPr>
          <p:cNvPr id="74" name="ChNm3"/>
          <p:cNvSpPr/>
          <p:nvPr/>
        </p:nvSpPr>
        <p:spPr>
          <a:xfrm>
            <a:off x="5830000" y="1620000"/>
            <a:ext cx="146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</a:rPr>
              <a:t>Affiliate</a:t>
            </a:r>
          </a:p>
        </p:txBody>
      </p:sp>
      <p:sp>
        <p:nvSpPr>
          <p:cNvPr id="75" name="Sep3"/>
          <p:cNvSpPr/>
          <p:nvPr/>
        </p:nvSpPr>
        <p:spPr>
          <a:xfrm>
            <a:off x="5970000" y="1900000"/>
            <a:ext cx="1180000" cy="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MVl3_77"/>
          <p:cNvSpPr/>
          <p:nvPr/>
        </p:nvSpPr>
        <p:spPr>
          <a:xfrm>
            <a:off x="5830000" y="201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0.024</a:t>
            </a:r>
          </a:p>
        </p:txBody>
      </p:sp>
      <p:sp>
        <p:nvSpPr>
          <p:cNvPr id="79" name="MVl3_79"/>
          <p:cNvSpPr/>
          <p:nvPr/>
        </p:nvSpPr>
        <p:spPr>
          <a:xfrm>
            <a:off x="5830000" y="244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0.176</a:t>
            </a:r>
          </a:p>
        </p:txBody>
      </p:sp>
      <p:sp>
        <p:nvSpPr>
          <p:cNvPr id="81" name="MVl3_81"/>
          <p:cNvSpPr/>
          <p:nvPr/>
        </p:nvSpPr>
        <p:spPr>
          <a:xfrm>
            <a:off x="5830000" y="287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$1,470.44</a:t>
            </a:r>
          </a:p>
        </p:txBody>
      </p:sp>
      <p:sp>
        <p:nvSpPr>
          <p:cNvPr id="83" name="MVl3_83"/>
          <p:cNvSpPr/>
          <p:nvPr/>
        </p:nvSpPr>
        <p:spPr>
          <a:xfrm>
            <a:off x="5830000" y="330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3.17</a:t>
            </a:r>
          </a:p>
        </p:txBody>
      </p:sp>
      <p:sp>
        <p:nvSpPr>
          <p:cNvPr id="85" name="MVl3_85"/>
          <p:cNvSpPr/>
          <p:nvPr/>
        </p:nvSpPr>
        <p:spPr>
          <a:xfrm>
            <a:off x="5830000" y="373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16 / 212</a:t>
            </a:r>
          </a:p>
        </p:txBody>
      </p:sp>
      <p:sp>
        <p:nvSpPr>
          <p:cNvPr id="86" name="Ins3"/>
          <p:cNvSpPr/>
          <p:nvPr/>
        </p:nvSpPr>
        <p:spPr>
          <a:xfrm>
            <a:off x="5830000" y="4230000"/>
            <a:ext cx="146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Below-average ROAS and higher CPA. Limited scale with low efficiency payoff.</a:t>
            </a:r>
          </a:p>
        </p:txBody>
      </p:sp>
      <p:sp>
        <p:nvSpPr>
          <p:cNvPr id="87" name="CardBg4"/>
          <p:cNvSpPr/>
          <p:nvPr/>
        </p:nvSpPr>
        <p:spPr>
          <a:xfrm>
            <a:off x="7450000" y="840000"/>
            <a:ext cx="1580000" cy="4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90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8" name="CardHdr4"/>
          <p:cNvSpPr/>
          <p:nvPr/>
        </p:nvSpPr>
        <p:spPr>
          <a:xfrm>
            <a:off x="7450000" y="840000"/>
            <a:ext cx="1580000" cy="30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Circ4"/>
          <p:cNvSpPr/>
          <p:nvPr/>
        </p:nvSpPr>
        <p:spPr>
          <a:xfrm>
            <a:off x="8055000" y="1180000"/>
            <a:ext cx="370000" cy="370000"/>
          </a:xfrm>
          <a:prstGeom prst="ellipse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CircTxt4"/>
          <p:cNvSpPr/>
          <p:nvPr/>
        </p:nvSpPr>
        <p:spPr>
          <a:xfrm>
            <a:off x="8055000" y="1180000"/>
            <a:ext cx="3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#5</a:t>
            </a:r>
          </a:p>
        </p:txBody>
      </p:sp>
      <p:sp>
        <p:nvSpPr>
          <p:cNvPr id="93" name="ChNm4"/>
          <p:cNvSpPr/>
          <p:nvPr/>
        </p:nvSpPr>
        <p:spPr>
          <a:xfrm>
            <a:off x="7510000" y="1620000"/>
            <a:ext cx="146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</a:rPr>
              <a:t>Partnerships</a:t>
            </a:r>
          </a:p>
        </p:txBody>
      </p:sp>
      <p:sp>
        <p:nvSpPr>
          <p:cNvPr id="94" name="Sep4"/>
          <p:cNvSpPr/>
          <p:nvPr/>
        </p:nvSpPr>
        <p:spPr>
          <a:xfrm>
            <a:off x="7650000" y="1900000"/>
            <a:ext cx="1180000" cy="20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MVl4_96"/>
          <p:cNvSpPr/>
          <p:nvPr/>
        </p:nvSpPr>
        <p:spPr>
          <a:xfrm>
            <a:off x="7510000" y="201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0.018</a:t>
            </a:r>
          </a:p>
        </p:txBody>
      </p:sp>
      <p:sp>
        <p:nvSpPr>
          <p:cNvPr id="98" name="MVl4_98"/>
          <p:cNvSpPr/>
          <p:nvPr/>
        </p:nvSpPr>
        <p:spPr>
          <a:xfrm>
            <a:off x="7510000" y="244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0.194</a:t>
            </a:r>
          </a:p>
        </p:txBody>
      </p:sp>
      <p:sp>
        <p:nvSpPr>
          <p:cNvPr id="100" name="MVl4_100"/>
          <p:cNvSpPr/>
          <p:nvPr/>
        </p:nvSpPr>
        <p:spPr>
          <a:xfrm>
            <a:off x="7510000" y="287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$2,587.71</a:t>
            </a:r>
          </a:p>
        </p:txBody>
      </p:sp>
      <p:sp>
        <p:nvSpPr>
          <p:cNvPr id="102" name="MVl4_102"/>
          <p:cNvSpPr/>
          <p:nvPr/>
        </p:nvSpPr>
        <p:spPr>
          <a:xfrm>
            <a:off x="7510000" y="330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3.49</a:t>
            </a:r>
          </a:p>
        </p:txBody>
      </p:sp>
      <p:sp>
        <p:nvSpPr>
          <p:cNvPr id="104" name="MVl4_104"/>
          <p:cNvSpPr/>
          <p:nvPr/>
        </p:nvSpPr>
        <p:spPr>
          <a:xfrm>
            <a:off x="7510000" y="3730000"/>
            <a:ext cx="1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</a:rPr>
              <a:t>14 / 212</a:t>
            </a:r>
          </a:p>
        </p:txBody>
      </p:sp>
      <p:sp>
        <p:nvSpPr>
          <p:cNvPr id="105" name="Ins4"/>
          <p:cNvSpPr/>
          <p:nvPr/>
        </p:nvSpPr>
        <p:spPr>
          <a:xfrm>
            <a:off x="7510000" y="4230000"/>
            <a:ext cx="146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Consistently lowest ROAS &amp; highest CPA. Least attractive channel for incremental budget.</a:t>
            </a:r>
          </a:p>
        </p:txBody>
      </p:sp>
      <p:sp>
        <p:nvSpPr>
          <p:cNvPr id="109" name="PillBg4">
            <a:extLst>
              <a:ext uri="{FF2B5EF4-FFF2-40B4-BE49-F238E27FC236}">
                <a16:creationId xmlns:a16="http://schemas.microsoft.com/office/drawing/2014/main" id="{C8FBB1F6-6AC0-D260-8E7D-6C9ADCFDEAED}"/>
              </a:ext>
            </a:extLst>
          </p:cNvPr>
          <p:cNvSpPr/>
          <p:nvPr/>
        </p:nvSpPr>
        <p:spPr>
          <a:xfrm>
            <a:off x="7597220" y="900000"/>
            <a:ext cx="1288074" cy="180000"/>
          </a:xfrm>
          <a:prstGeom prst="roundRect">
            <a:avLst/>
          </a:prstGeom>
          <a:solidFill>
            <a:srgbClr val="495057"/>
          </a:solidFill>
          <a:ln w="0">
            <a:noFill/>
          </a:ln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Deprioritize</a:t>
            </a:r>
          </a:p>
          <a:p>
            <a:endParaRPr lang="en-US" dirty="0"/>
          </a:p>
        </p:txBody>
      </p:sp>
      <p:sp>
        <p:nvSpPr>
          <p:cNvPr id="112" name="Title">
            <a:extLst>
              <a:ext uri="{FF2B5EF4-FFF2-40B4-BE49-F238E27FC236}">
                <a16:creationId xmlns:a16="http://schemas.microsoft.com/office/drawing/2014/main" id="{3CAE0D68-3B91-228E-4AC5-F31597D07BAF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2026 Budget Allocation: Overall Channel Ranking Across All Markets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4D7DF1E-8D0B-FC1B-AFA6-8198E9102120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4: </a:t>
            </a:r>
            <a:r>
              <a:rPr lang="en-US" sz="600" dirty="0" err="1">
                <a:hlinkClick r:id="rId3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Bar"/>
          <p:cNvSpPr/>
          <p:nvPr/>
        </p:nvSpPr>
        <p:spPr>
          <a:xfrm>
            <a:off x="0" y="0"/>
            <a:ext cx="9144000" cy="444012"/>
          </a:xfrm>
          <a:prstGeom prst="rect">
            <a:avLst/>
          </a:prstGeom>
          <a:solidFill>
            <a:srgbClr val="037A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"/>
          <p:cNvSpPr/>
          <p:nvPr/>
        </p:nvSpPr>
        <p:spPr>
          <a:xfrm>
            <a:off x="274320" y="57607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Rankings within each country × week. ROAS 33.3% + Order Freq 33.3% + CPA 33.3% · Spend-share adjusted · Min-max normalised</a:t>
            </a:r>
          </a:p>
        </p:txBody>
      </p:sp>
      <p:sp>
        <p:nvSpPr>
          <p:cNvPr id="11" name="CtryHdr_France"/>
          <p:cNvSpPr/>
          <p:nvPr/>
        </p:nvSpPr>
        <p:spPr>
          <a:xfrm>
            <a:off x="182880" y="840000"/>
            <a:ext cx="3880000" cy="25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tryTxt_France"/>
          <p:cNvSpPr/>
          <p:nvPr/>
        </p:nvSpPr>
        <p:spPr>
          <a:xfrm>
            <a:off x="222880" y="840000"/>
            <a:ext cx="384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96D913"/>
                </a:solidFill>
                <a:latin typeface="Calibri"/>
              </a:rPr>
              <a:t>France</a:t>
            </a:r>
          </a:p>
        </p:txBody>
      </p:sp>
      <p:graphicFrame>
        <p:nvGraphicFramePr>
          <p:cNvPr id="13" name="Tbl_France"/>
          <p:cNvGraphicFramePr>
            <a:graphicFrameLocks noGrp="1"/>
          </p:cNvGraphicFramePr>
          <p:nvPr/>
        </p:nvGraphicFramePr>
        <p:xfrm>
          <a:off x="182880" y="1090000"/>
          <a:ext cx="3880000" cy="177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CPC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Ord Freq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Rank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11/53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$940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2.57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9/53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9/53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Maintain</a:t>
                      </a:r>
                    </a:p>
                  </a:txBody>
                  <a:tcPr>
                    <a:solidFill>
                      <a:srgbClr val="E67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Affiliate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$1,673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5/53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CtryHdr_Germany"/>
          <p:cNvSpPr/>
          <p:nvPr/>
        </p:nvSpPr>
        <p:spPr>
          <a:xfrm>
            <a:off x="4172880" y="840000"/>
            <a:ext cx="3880000" cy="25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tryTxt_Germany"/>
          <p:cNvSpPr/>
          <p:nvPr/>
        </p:nvSpPr>
        <p:spPr>
          <a:xfrm>
            <a:off x="4212880" y="840000"/>
            <a:ext cx="384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96D913"/>
                </a:solidFill>
                <a:latin typeface="Calibri"/>
              </a:rPr>
              <a:t>Germany</a:t>
            </a:r>
          </a:p>
        </p:txBody>
      </p:sp>
      <p:graphicFrame>
        <p:nvGraphicFramePr>
          <p:cNvPr id="16" name="Tbl_Germany"/>
          <p:cNvGraphicFramePr>
            <a:graphicFrameLocks noGrp="1"/>
          </p:cNvGraphicFramePr>
          <p:nvPr/>
        </p:nvGraphicFramePr>
        <p:xfrm>
          <a:off x="4172880" y="1090000"/>
          <a:ext cx="3880000" cy="177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CPC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Ord Freq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Rank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12/53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$870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0.193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2.62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13/53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11/53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Affiliate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$1,518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$1,871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6/53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CtryHdr_Spain"/>
          <p:cNvSpPr/>
          <p:nvPr/>
        </p:nvSpPr>
        <p:spPr>
          <a:xfrm>
            <a:off x="182880" y="2830000"/>
            <a:ext cx="3880000" cy="25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tryTxt_Spain"/>
          <p:cNvSpPr/>
          <p:nvPr/>
        </p:nvSpPr>
        <p:spPr>
          <a:xfrm>
            <a:off x="222880" y="2830000"/>
            <a:ext cx="384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96D913"/>
                </a:solidFill>
                <a:latin typeface="Calibri"/>
              </a:rPr>
              <a:t>Spain</a:t>
            </a:r>
          </a:p>
        </p:txBody>
      </p:sp>
      <p:graphicFrame>
        <p:nvGraphicFramePr>
          <p:cNvPr id="19" name="Tbl_Spain"/>
          <p:cNvGraphicFramePr>
            <a:graphicFrameLocks noGrp="1"/>
          </p:cNvGraphicFramePr>
          <p:nvPr/>
        </p:nvGraphicFramePr>
        <p:xfrm>
          <a:off x="182880" y="3080000"/>
          <a:ext cx="3880000" cy="177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CPC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Ord Freq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Rank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12/53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$779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11/53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11/53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Affiliate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$1,240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4/53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$3,175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5/53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CtryHdr_UK"/>
          <p:cNvSpPr/>
          <p:nvPr/>
        </p:nvSpPr>
        <p:spPr>
          <a:xfrm>
            <a:off x="4172880" y="2830000"/>
            <a:ext cx="3880000" cy="250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tryTxt_UK"/>
          <p:cNvSpPr/>
          <p:nvPr/>
        </p:nvSpPr>
        <p:spPr>
          <a:xfrm>
            <a:off x="4212880" y="2830000"/>
            <a:ext cx="384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96D913"/>
                </a:solidFill>
                <a:latin typeface="Calibri"/>
              </a:rPr>
              <a:t>UK</a:t>
            </a:r>
          </a:p>
        </p:txBody>
      </p:sp>
      <p:graphicFrame>
        <p:nvGraphicFramePr>
          <p:cNvPr id="22" name="Tbl_UK"/>
          <p:cNvGraphicFramePr>
            <a:graphicFrameLocks noGrp="1"/>
          </p:cNvGraphicFramePr>
          <p:nvPr/>
        </p:nvGraphicFramePr>
        <p:xfrm>
          <a:off x="4172880" y="3080000"/>
          <a:ext cx="3880000" cy="177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CPC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Ord Freq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Avg Rank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16/53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$856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2.72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7/53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Up</a:t>
                      </a:r>
                    </a:p>
                  </a:txBody>
                  <a:tcPr>
                    <a:solidFill>
                      <a:srgbClr val="2B8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2.83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9/53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Maintain</a:t>
                      </a:r>
                    </a:p>
                  </a:txBody>
                  <a:tcPr>
                    <a:solidFill>
                      <a:srgbClr val="E67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Affiliate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$1,445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5/53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70" b="1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$2,279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3.42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60" dirty="0">
                          <a:solidFill>
                            <a:srgbClr val="1A1A1A"/>
                          </a:solidFill>
                          <a:latin typeface="Calibri"/>
                        </a:rPr>
                        <a:t>1/53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Calibri"/>
                        </a:rPr>
                        <a:t>Scale Down</a:t>
                      </a:r>
                    </a:p>
                  </a:txBody>
                  <a:tcPr>
                    <a:solidFill>
                      <a:srgbClr val="C9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Insight"/>
          <p:cNvSpPr/>
          <p:nvPr/>
        </p:nvSpPr>
        <p:spPr>
          <a:xfrm>
            <a:off x="146280" y="4840562"/>
            <a:ext cx="8760000" cy="1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Key insight: France is the only market where Paid Search leads. UK Organic channel delivers the highest portfolio ROAS (0.083). Partnerships ranks last in all 4 markets.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C252BAAB-64CA-55E1-17A9-81C82637D19E}"/>
              </a:ext>
            </a:extLst>
          </p:cNvPr>
          <p:cNvSpPr/>
          <p:nvPr/>
        </p:nvSpPr>
        <p:spPr>
          <a:xfrm>
            <a:off x="201168" y="96072"/>
            <a:ext cx="7400000" cy="342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Channel Rankings Vary by Market – France Diverges from Germany, Spain &amp; UK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2BCF8-07A5-4097-0218-C5A41E014490}"/>
              </a:ext>
            </a:extLst>
          </p:cNvPr>
          <p:cNvSpPr txBox="1"/>
          <p:nvPr/>
        </p:nvSpPr>
        <p:spPr>
          <a:xfrm>
            <a:off x="11471" y="4956644"/>
            <a:ext cx="107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Task 4: </a:t>
            </a:r>
            <a:r>
              <a:rPr lang="en-US" sz="600" dirty="0" err="1">
                <a:hlinkClick r:id="rId3"/>
              </a:rPr>
              <a:t>Query_Output</a:t>
            </a:r>
            <a:endParaRPr lang="en-CA" sz="600" dirty="0"/>
          </a:p>
          <a:p>
            <a:endParaRPr lang="en-US" sz="600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BB9519EC-AF19-EF47-9B28-1518F111F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892" y="-485"/>
            <a:ext cx="334108" cy="334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1247</Words>
  <Application>Microsoft Office PowerPoint</Application>
  <PresentationFormat>On-screen Show (16:9)</PresentationFormat>
  <Paragraphs>346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Marketing Performance Review – HelloFresh Group</dc:title>
  <dc:subject>PptxGenJS Presentation</dc:subject>
  <dc:creator>PptxGenJS</dc:creator>
  <cp:lastModifiedBy>Sarthak Yadav</cp:lastModifiedBy>
  <cp:revision>191</cp:revision>
  <dcterms:created xsi:type="dcterms:W3CDTF">2026-04-01T16:56:20Z</dcterms:created>
  <dcterms:modified xsi:type="dcterms:W3CDTF">2026-04-02T20:20:02Z</dcterms:modified>
</cp:coreProperties>
</file>